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3602130a5405f" /><Relationship Type="http://schemas.openxmlformats.org/officeDocument/2006/relationships/extended-properties" Target="/docProps/app.xml" Id="Rcbb15974670c471b" /><Relationship Type="http://schemas.openxmlformats.org/officeDocument/2006/relationships/officeDocument" Target="/ppt/presentation.xml" Id="R43e39ed91b9a44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3246a609d4f9f"/>
  </p:sldMasterIdLst>
  <p:notesMasterIdLst>
    <p:notesMasterId xmlns:r="http://schemas.openxmlformats.org/officeDocument/2006/relationships" r:id="Rb4fb185a45be4650"/>
  </p:notesMasterIdLst>
  <p:sldIdLst>
    <p:sldId xmlns:r="http://schemas.openxmlformats.org/officeDocument/2006/relationships" id="256" r:id="R7a3aef54576a4510"/>
    <p:sldId xmlns:r="http://schemas.openxmlformats.org/officeDocument/2006/relationships" id="257" r:id="R45c8c746fe8547a2"/>
    <p:sldId xmlns:r="http://schemas.openxmlformats.org/officeDocument/2006/relationships" id="258" r:id="R1f4f9eb18d1b40ab"/>
    <p:sldId xmlns:r="http://schemas.openxmlformats.org/officeDocument/2006/relationships" id="259" r:id="Re4535bdf67fe4ef2"/>
    <p:sldId xmlns:r="http://schemas.openxmlformats.org/officeDocument/2006/relationships" id="260" r:id="Re281b366168c4c45"/>
    <p:sldId xmlns:r="http://schemas.openxmlformats.org/officeDocument/2006/relationships" id="261" r:id="R0771fa69b4204ce6"/>
    <p:sldId xmlns:r="http://schemas.openxmlformats.org/officeDocument/2006/relationships" id="262" r:id="Rde2d3259cd4846fe"/>
    <p:sldId xmlns:r="http://schemas.openxmlformats.org/officeDocument/2006/relationships" id="263" r:id="R1df2a4e51e6341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d3d63de8894d61" /><Relationship Type="http://schemas.openxmlformats.org/officeDocument/2006/relationships/slideMaster" Target="/ppt/slideMasters/slideMaster1.xml" Id="R6d33246a609d4f9f" /><Relationship Type="http://schemas.openxmlformats.org/officeDocument/2006/relationships/notesMaster" Target="/ppt/notesMasters/notesMaster1.xml" Id="Rb4fb185a45be4650" /><Relationship Type="http://schemas.openxmlformats.org/officeDocument/2006/relationships/presProps" Target="/ppt/presProps.xml" Id="Ra59b8862227e47d6" /><Relationship Type="http://schemas.openxmlformats.org/officeDocument/2006/relationships/viewProps" Target="/ppt/viewProps.xml" Id="R7381a397eb1943e6" /><Relationship Type="http://schemas.openxmlformats.org/officeDocument/2006/relationships/tableStyles" Target="/ppt/tableStyles.xml" Id="R111d720b201c4cfc" /><Relationship Type="http://schemas.openxmlformats.org/officeDocument/2006/relationships/slide" Target="/ppt/slides/slide1.xml" Id="R7a3aef54576a4510" /><Relationship Type="http://schemas.openxmlformats.org/officeDocument/2006/relationships/slide" Target="/ppt/slides/slide2.xml" Id="R45c8c746fe8547a2" /><Relationship Type="http://schemas.openxmlformats.org/officeDocument/2006/relationships/slide" Target="/ppt/slides/slide3.xml" Id="R1f4f9eb18d1b40ab" /><Relationship Type="http://schemas.openxmlformats.org/officeDocument/2006/relationships/slide" Target="/ppt/slides/slide4.xml" Id="Re4535bdf67fe4ef2" /><Relationship Type="http://schemas.openxmlformats.org/officeDocument/2006/relationships/slide" Target="/ppt/slides/slide5.xml" Id="Re281b366168c4c45" /><Relationship Type="http://schemas.openxmlformats.org/officeDocument/2006/relationships/slide" Target="/ppt/slides/slide6.xml" Id="R0771fa69b4204ce6" /><Relationship Type="http://schemas.openxmlformats.org/officeDocument/2006/relationships/slide" Target="/ppt/slides/slide7.xml" Id="Rde2d3259cd4846fe" /><Relationship Type="http://schemas.openxmlformats.org/officeDocument/2006/relationships/slide" Target="/ppt/slides/slide8.xml" Id="R1df2a4e51e63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a56837069544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5cfdf8079488b" /><Relationship Type="http://schemas.openxmlformats.org/officeDocument/2006/relationships/notesMaster" Target="/ppt/notesMasters/notesMaster1.xml" Id="Rb5a8cf662e5e4f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067027345943d7" /><Relationship Type="http://schemas.openxmlformats.org/officeDocument/2006/relationships/notesMaster" Target="/ppt/notesMasters/notesMaster1.xml" Id="Rd5f86e6df0074f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736d9a80c14041" /><Relationship Type="http://schemas.openxmlformats.org/officeDocument/2006/relationships/notesMaster" Target="/ppt/notesMasters/notesMaster1.xml" Id="R249e640a098a44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ec1cecae13447d" /><Relationship Type="http://schemas.openxmlformats.org/officeDocument/2006/relationships/notesMaster" Target="/ppt/notesMasters/notesMaster1.xml" Id="R73944acadfa949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9beedc2f04683" /><Relationship Type="http://schemas.openxmlformats.org/officeDocument/2006/relationships/notesMaster" Target="/ppt/notesMasters/notesMaster1.xml" Id="R051074c810ef40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70c85aa5f342b9" /><Relationship Type="http://schemas.openxmlformats.org/officeDocument/2006/relationships/notesMaster" Target="/ppt/notesMasters/notesMaster1.xml" Id="R569a6aae07a542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97f31297034f60" /><Relationship Type="http://schemas.openxmlformats.org/officeDocument/2006/relationships/notesMaster" Target="/ppt/notesMasters/notesMaster1.xml" Id="R0915d9e11fb544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b0aeebf92444d5" /><Relationship Type="http://schemas.openxmlformats.org/officeDocument/2006/relationships/notesMaster" Target="/ppt/notesMasters/notesMaster1.xml" Id="R512282659c6845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the dataset and the goal of explaining used-vehicle price patterns.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- 1776311302-P3-Car Market Trends Analysis with Car Dekho Data.csv (user-provided dataset; 301 rows)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work as descriptive market analysis rather than a causal pricing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- 1776311302-P3-Car Market Trends Analysis with Car Dekho Data.csv (user-provided dataset; 301 rows)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 retention is defined as selling price divided by present price.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- 1776311302-P3-Car Market Trends Analysis with Car Dekho Data.csv (user-provided dataset; 301 rows)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the same descriptive findings support different market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- 1776311302-P3-Car Market Trends Analysis with Car Dekho Data.csv (user-provided dataset; 301 rows)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analysis uses descriptive statistics; no predictive-model accuracy is claimed.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- 1776311302-P3-Car Market Trends Analysis with Car Dekho Data.csv (user-provided dataset; 301 rows)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Means are descriptive and affected by the models represented in each segment. Fuel sample sizes: Diesel 60, Petrol 239, CNG 2. Transmission sample sizes: Automatic 40, Manual 261.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- 1776311302-P3-Car Market Trends Analysis with Car Dekho Data.csv (user-provided dataset; 301 rows)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 cohorts are calculated relative to the dataset's latest model year (2018). Cohort sizes: 0–2 years 86, 3–5 years 132, 6–8 years 57, 9+ years 26. Top model averages require at least two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- 1776311302-P3-Car Market Trends Analysis with Car Dekho Data.csv (user-provided dataset; 301 rows)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emphasizing robust benchmarks, age-related depreciation and the need for like-for-like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- 1776311302-P3-Car Market Trends Analysis with Car Dekho Data.csv (user-provided dataset; 301 rows)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0739b333f4f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f54e4e5a546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1f04ec7db4f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68e73ded842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ae3cec5ec4a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e7cf6bec94b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131e704c84f7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09a5d6b00492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dd2ccd8544ed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86c7e16414a4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06042e65b409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1a142148e49e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f59b4559c4ac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315b1afac4d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85886fde74f5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81afcf7b1465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981d579ae403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bf3d181c749c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abbc58098497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1af3a28bb49d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4b894d530481d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E2BB37A-03ED-4CFE-AF44-2D97ADF7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1DA8B386-B410-4E80-A175-DAA04CF9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A48D17D-5F84-47AE-BA1B-B970CBC1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A82E43E-6DCF-402A-AD4C-6181F1C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1E93A14-7370-475F-A1C4-85D952DD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509AED1D-48C5-48A7-97CA-689E7D5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621C4C8-F51E-4AA1-947C-234F779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D77CB8E-F4DD-4822-9182-30909F55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A7551B5-4F7B-4EA5-9592-3118CEC8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24C2EDB0-31A9-4FDE-A1D3-349EBFDB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6897EE-3F28-40E1-AC89-3FE362D5A01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AF3922A-C375-49B5-8B64-82105704D0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1F3914-624B-4277-A354-9A7C89DABE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6530A0-DC30-4847-84AA-07C14A4AF2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2BE91C-EE06-476B-9E35-8214545B3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68DA1F-F0E8-48FA-B75D-0F2C48859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2ED9B7-B456-4CBF-9D6A-4038349E47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428408-2AF9-4DA1-B223-81380F10E9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0F0D57-3009-43A3-A1C7-0F2EBE224D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D4F5D3-5A3B-4842-8D20-B0E73A62DB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E6E3AA-14E8-4702-86CF-8342226FF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37E3DD-BAD4-411D-8066-6E9F82C74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D578DF-A95E-4F49-996F-25DAC89E4D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A77F4BA-5E32-4A5A-A420-0E2663BCF3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F03C1D-C59A-4A76-9BBA-1A345025F3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12F97A-D3CE-47C5-8349-9A4893DA12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E06671-1782-45BA-BDE2-9B6CD19087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5EA6A58-640B-4C30-9AC7-01647E84B02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D1762B-6CC2-4004-A8AB-9C7D8E91AD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B712588-04B1-427B-82EE-E8DB90309F08}" type="datetimeFigureOut">
              <a:t>8/27/2026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573B47-B0E3-4A90-AEC4-6E81906E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DD056B2-A1B2-481D-BD6D-3A4812875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FF9F0C5-380F-41C2-899A-BAC0F0927E16}" type="slidenum">
              <a:t>‹#›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C3C2A0-5AEB-4F6C-AB1B-596F88219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80A31A-ABCA-4158-B985-6B8370C9EF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D1C930-8441-4DD1-AAA1-9B02D2F4E4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56559F8-239F-414B-9A0F-CBD908A44EE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73674F-E7DB-4D76-AA4D-3DC8311DC3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893433D-28B8-4DA9-91B4-C5B19D25AA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2798A9-31E4-4469-BAB9-D166BA4F61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DABFFA-76A2-474A-AD00-A2C15B6C6F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EAEF03-C856-4AAC-805F-73354C363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3EDBA8A-9463-4738-9719-268E9557D3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68C707-3151-4F9D-9332-065639092E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5739DD5-9C7E-41D9-B4E7-6C7D15D82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2FB44DB-3393-4651-8611-4ADDC3F35D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BE7AD96-347A-40D9-945B-FD1562BAC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772D3BD-E957-43FC-9709-7A407941BA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D5E14D-1C44-46BA-AC95-240290DC3C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94A8D8-6C63-4478-A95B-530D01E971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E8076C-857E-4E09-8A94-EDDA094AC6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2C858-DC0B-4AC1-A23A-12725595BC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A54C80-263E-416B-A8E0-580EDEADCBDC}" type="datetimeFigureOut">
              <a:t>8/27/2026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9791162-45CC-44F8-ACFA-6AC44CFEDD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F436983-A1F1-4697-A724-6B9F72315A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9954A3-9DFD-4C44-94BA-B95130A3BA1C}" type="slidenum">
              <a:t>‹#›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F6671E-8FE6-44E9-BBB3-7692CAE06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07F2E52-6B7F-405B-9999-632E81337C0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4C9581-08C1-4993-AB4D-D064F347C5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4DE2CC-D26D-4F34-BCE2-CFE2D4050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CB7E93-6420-4909-87DA-E57912C768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D83A734-A95E-42F1-874F-3AA6E3F245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5C5B00-3CE3-4E6B-BCD3-62A3B27A7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0E4A04-1907-4B9A-9B83-E1E995614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A49DC8-9347-4D6D-8B13-F9A766AF08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E83BD1-39CA-44FE-94E3-97D6F79350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F1FD0B-A781-4F82-A033-A1260638D1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F7D4E-441F-449E-8BEB-0E1B05BC18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10FF367-7680-42A7-A92D-2D88C18BEEF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C5755E-B1F5-4586-87EC-067ED543CE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94FCFD-8058-4F37-9090-93F3C13B19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153AE3-9F5C-4B55-AFED-7F6C471E9D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5F56B6E-53FF-4F2E-A64A-C30C5807CB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03FA4EF-6BEE-4E68-8253-B599BDFF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F6E927C-5D4F-4257-B625-6DBA2A9B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C8586-F0E2-4A72-B5A5-5B6996537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FE0F1D-4783-4CC6-9EE9-54A58F5CA6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F28150-E0E9-48A6-9620-021F9B9F33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069FD4-43E1-4C8D-9676-20C0AF0D9F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A8CFC9-B5F8-4E2D-923A-CE517402D0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096D49-6190-4320-85E1-07952B471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3C280F7F-F21D-4C5E-B8BA-541C05C6606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16C367-7F6B-430D-8E23-1C28E8934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B00F4A-B7C0-41DA-9A57-5AC7422317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69DF35-900B-4F2E-870B-A6091076CD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6B92DE-BC22-4C4A-B262-6E956282A8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21A070E-1BFC-4036-B4E8-573DF95A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DA63F1D-ED23-44F0-87DD-C6918511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5909DE-445E-4195-A80C-1CC666247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3481C478-9F01-4235-9450-65E72E2CC26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4D84C5-D6B5-40B7-B49F-3D40315A2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526FD8-87B3-42EE-9CEA-F68488A13D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DD3E99-5222-4C58-B5BE-AC59C7A602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892940-B735-4B1C-816B-0109D50032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8465BA-E9BD-4220-A472-40B6E14C9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1D73F4-D0C5-4752-8D0C-3A76800960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124225-1A0F-4932-85B7-E296AB7180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5C6B4A9-1611-4792-9094-5F34BCA07E0B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97C114-9256-4DAE-BCAE-D0231FCFDA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DD6729-A345-4595-B211-99E240B349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333C77-0158-454C-844F-B7AB9BD7DAD4}" type="slidenum">
              <a:t>‹#›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D1B320-082F-4D2D-8545-C2538ABDD3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4321D8-249B-4031-97E1-8DCA3218F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2F1621-5CBF-4778-9A71-2F36AC8321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E39A04-1ED5-4196-B145-F1194EDE0B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18EAD1-A658-4610-83F2-56A2EA5BB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312871" y="4141999"/>
            <a:ext cx="4220845" cy="861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2000"/>
            </a:lvl2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</p:txBody>
      </p:sp>
      <p:sp>
        <p:nvSpPr>
          <p:cNvPr id="15" name="Hexagon 14">
            <a:extLst xmlns:a="http://schemas.openxmlformats.org/drawingml/2006/main"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09" y="1382809"/>
            <a:ext cx="1229566" cy="1059971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Hexagon 15">
            <a:extLst xmlns:a="http://schemas.openxmlformats.org/drawingml/2006/main"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031" y="1194620"/>
            <a:ext cx="1666162" cy="1436347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Hexagon 16">
            <a:extLst xmlns:a="http://schemas.openxmlformats.org/drawingml/2006/main"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994" y="5233183"/>
            <a:ext cx="718261" cy="619191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Hexagon 17">
            <a:extLst xmlns:a="http://schemas.openxmlformats.org/drawingml/2006/main"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838" y="1101306"/>
            <a:ext cx="651613" cy="561736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571515" y="1914044"/>
            <a:ext cx="3993624" cy="3617848"/>
          </a:xfrm>
          <a:custGeom xmlns:a="http://schemas.openxmlformats.org/drawingml/2006/main"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12871" y="2050552"/>
            <a:ext cx="4998720" cy="17489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3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246" y="5605994"/>
            <a:ext cx="654227" cy="65422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791" y="6132439"/>
            <a:ext cx="251152" cy="251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733416" y="624239"/>
            <a:ext cx="5855754" cy="5631571"/>
          </a:xfrm>
          <a:custGeom xmlns:a="http://schemas.openxmlformats.org/drawingml/2006/main"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7" name="Text Placeholder 26">
            <a:extLst xmlns:a="http://schemas.openxmlformats.org/drawingml/2006/main"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60400" y="2044700"/>
            <a:ext cx="4275138" cy="3560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2000"/>
            </a:lvl2pPr>
            <a:lvl3pPr>
              <a:buClr>
                <a:schemeClr val="accent4"/>
              </a:buClr>
              <a:buFont typeface="Wingdings"/>
              <a:buChar char="§"/>
              <a:defRPr sz="1800"/>
            </a:lvl3pPr>
            <a:lvl4pPr>
              <a:buClr>
                <a:schemeClr val="accent4"/>
              </a:buClr>
              <a:buFont typeface="Wingdings"/>
              <a:buChar char="§"/>
              <a:defRPr sz="1800"/>
            </a:lvl4pPr>
            <a:lvl5pPr>
              <a:buClr>
                <a:schemeClr val="accent4"/>
              </a:buClr>
              <a:buFont typeface="Wingdings"/>
              <a:buChar char="§"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0" y="805213"/>
            <a:ext cx="4275138" cy="8309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userDrawn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6">
            <a:extLst xmlns:a="http://schemas.openxmlformats.org/drawingml/2006/main"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60400" y="2044700"/>
            <a:ext cx="4275138" cy="3560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Clr>
                <a:schemeClr val="accent4"/>
              </a:buClr>
              <a:buFont typeface="Wingdings"/>
              <a:buChar char="§"/>
              <a:defRPr sz="2000"/>
            </a:lvl1pPr>
            <a:lvl2pPr>
              <a:buClr>
                <a:schemeClr val="accent4"/>
              </a:buClr>
              <a:buFont typeface="Wingdings"/>
              <a:buChar char="§"/>
              <a:defRPr sz="1800"/>
            </a:lvl2pPr>
            <a:lvl3pPr>
              <a:buClr>
                <a:schemeClr val="accent4"/>
              </a:buClr>
              <a:buFont typeface="Wingdings"/>
              <a:buChar char="§"/>
              <a:defRPr sz="1600"/>
            </a:lvl3pPr>
            <a:lvl4pPr>
              <a:buClr>
                <a:schemeClr val="accent4"/>
              </a:buClr>
              <a:buFont typeface="Wingdings"/>
              <a:buChar char="§"/>
              <a:defRPr sz="1600"/>
            </a:lvl4pPr>
            <a:lvl5pPr>
              <a:buClr>
                <a:schemeClr val="accent4"/>
              </a:buClr>
              <a:buFont typeface="Wingdings"/>
              <a:buChar char="§"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457" y="5363987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791" y="1699889"/>
            <a:ext cx="319749" cy="3197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457" y="5897738"/>
            <a:ext cx="179977" cy="1799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090227" y="786181"/>
            <a:ext cx="4441372" cy="5393036"/>
          </a:xfrm>
          <a:custGeom xmlns:a="http://schemas.openxmlformats.org/drawingml/2006/main"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0" y="805213"/>
            <a:ext cx="4275138" cy="8309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userDrawn="1">
  <p:cSld name="Te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icture Placeholder 38">
            <a:extLst xmlns:a="http://schemas.openxmlformats.org/drawingml/2006/main"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5353508" y="2555551"/>
            <a:ext cx="1484985" cy="1280160"/>
          </a:xfrm>
          <a:custGeom xmlns:a="http://schemas.openxmlformats.org/drawingml/2006/main"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38" name="Picture Placeholder 37">
            <a:extLst xmlns:a="http://schemas.openxmlformats.org/drawingml/2006/main"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3115921" y="2555551"/>
            <a:ext cx="1484985" cy="1280160"/>
          </a:xfrm>
          <a:custGeom xmlns:a="http://schemas.openxmlformats.org/drawingml/2006/main"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0" name="Picture Placeholder 39">
            <a:extLst xmlns:a="http://schemas.openxmlformats.org/drawingml/2006/main"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02465" y="2555551"/>
            <a:ext cx="1484985" cy="1280160"/>
          </a:xfrm>
          <a:custGeom xmlns:a="http://schemas.openxmlformats.org/drawingml/2006/main"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1" name="Picture Placeholder 40">
            <a:extLst xmlns:a="http://schemas.openxmlformats.org/drawingml/2006/main"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9840051" y="2555551"/>
            <a:ext cx="1484985" cy="1280160"/>
          </a:xfrm>
          <a:custGeom xmlns:a="http://schemas.openxmlformats.org/drawingml/2006/main"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647700"/>
            <a:ext cx="11340000" cy="700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tx1"/>
                </a:solidFill>
              </a:rPr>
              <a:t>Click to edit Master title style</a:t>
            </a:r>
            <a:endParaRPr sz="4800" b="1">
              <a:solidFill>
                <a:schemeClr val="tx1"/>
              </a:solidFill>
            </a:endParaRPr>
          </a:p>
        </p:txBody>
      </p:sp>
      <p:sp>
        <p:nvSpPr>
          <p:cNvPr id="9" name="Hexagon 8">
            <a:extLst xmlns:a="http://schemas.openxmlformats.org/drawingml/2006/main"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69" y="3467555"/>
            <a:ext cx="458268" cy="395059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Hexagon 9">
            <a:extLst xmlns:a="http://schemas.openxmlformats.org/drawingml/2006/main"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337" y="2394722"/>
            <a:ext cx="358391" cy="308958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Hexagon 10">
            <a:extLst xmlns:a="http://schemas.openxmlformats.org/drawingml/2006/main"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649" y="2202202"/>
            <a:ext cx="230688" cy="198869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546668" y="4172761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4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556692" y="4588259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789482" y="4172761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8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2789483" y="4588259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9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32296" y="4172761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0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029201" y="4588259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1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275110" y="4172761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2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7275111" y="4588259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3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9517923" y="4172761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4" name="Text Placeholder 22">
            <a:extLst xmlns:a="http://schemas.openxmlformats.org/drawingml/2006/main"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17923" y="4588259"/>
            <a:ext cx="2139696" cy="344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7" name="Picture Placeholder 36">
            <a:extLst xmlns:a="http://schemas.openxmlformats.org/drawingml/2006/main"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878337" y="2555551"/>
            <a:ext cx="1484985" cy="1280160"/>
          </a:xfrm>
          <a:custGeom xmlns:a="http://schemas.openxmlformats.org/drawingml/2006/main"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1_Custom Layout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560" y="1181123"/>
            <a:ext cx="4754880" cy="44957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alpha val="40000"/>
            </a:schemeClr>
          </a:solidFill>
          <a:ln xmlns:a="http://schemas.openxmlformats.org/drawingml/2006/main" w="60325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149139" y="4859469"/>
            <a:ext cx="3924934" cy="4905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 sz="2400" b="1" kern="12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  <a:lvl2pPr>
              <a:buNone/>
              <a:defRPr/>
            </a:lvl2pPr>
          </a:lstStyle>
          <a:p xmlns:a="http://schemas.openxmlformats.org/drawingml/2006/main">
            <a:pPr lvl="0">
              <a:buNone/>
            </a:pPr>
            <a:r>
              <a:t>Click to edit text</a:t>
            </a: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49139" y="1529685"/>
            <a:ext cx="3924934" cy="1695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spcBef>
                <a:spcPts val="100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4ce4f878fa4481" /><Relationship Type="http://schemas.openxmlformats.org/officeDocument/2006/relationships/slideLayout" Target="/ppt/slideLayouts/slideLayout1.xml" Id="R1610e9cc8a5d4acb" /><Relationship Type="http://schemas.openxmlformats.org/officeDocument/2006/relationships/slideLayout" Target="/ppt/slideLayouts/slideLayout2.xml" Id="Rb5cfc3c4528d4fb1" /><Relationship Type="http://schemas.openxmlformats.org/officeDocument/2006/relationships/slideLayout" Target="/ppt/slideLayouts/slideLayout3.xml" Id="R3136afcd33a3432c" /><Relationship Type="http://schemas.openxmlformats.org/officeDocument/2006/relationships/slideLayout" Target="/ppt/slideLayouts/slideLayout4.xml" Id="R40bd29a5d12d4274" /><Relationship Type="http://schemas.openxmlformats.org/officeDocument/2006/relationships/slideLayout" Target="/ppt/slideLayouts/slideLayout5.xml" Id="R09a93e98ea5a4bbe" /><Relationship Type="http://schemas.openxmlformats.org/officeDocument/2006/relationships/slideLayout" Target="/ppt/slideLayouts/slideLayout6.xml" Id="R3dbc2844a5604e79" /><Relationship Type="http://schemas.openxmlformats.org/officeDocument/2006/relationships/slideLayout" Target="/ppt/slideLayouts/slideLayout7.xml" Id="R88697ad62c2548ba" /><Relationship Type="http://schemas.openxmlformats.org/officeDocument/2006/relationships/slideLayout" Target="/ppt/slideLayouts/slideLayout8.xml" Id="R5d95bc0a2a49471a" /><Relationship Type="http://schemas.openxmlformats.org/officeDocument/2006/relationships/slideLayout" Target="/ppt/slideLayouts/slideLayout9.xml" Id="Ra35ecab842a74956" /><Relationship Type="http://schemas.openxmlformats.org/officeDocument/2006/relationships/slideLayout" Target="/ppt/slideLayouts/slideLayout10.xml" Id="R84544228edb54229" /><Relationship Type="http://schemas.openxmlformats.org/officeDocument/2006/relationships/slideLayout" Target="/ppt/slideLayouts/slideLayout11.xml" Id="R1da72a714fd94141" /><Relationship Type="http://schemas.openxmlformats.org/officeDocument/2006/relationships/slideLayout" Target="/ppt/slideLayouts/slideLayout12.xml" Id="R1ba6861e72654d6e" /><Relationship Type="http://schemas.openxmlformats.org/officeDocument/2006/relationships/slideLayout" Target="/ppt/slideLayouts/slideLayout13.xml" Id="Rd953bc2dd6b84f5e" /><Relationship Type="http://schemas.openxmlformats.org/officeDocument/2006/relationships/slideLayout" Target="/ppt/slideLayouts/slideLayout14.xml" Id="R5c16fd91eee2463e" /><Relationship Type="http://schemas.openxmlformats.org/officeDocument/2006/relationships/slideLayout" Target="/ppt/slideLayouts/slideLayout15.xml" Id="R3df96f0e3c944f61" /><Relationship Type="http://schemas.openxmlformats.org/officeDocument/2006/relationships/slideLayout" Target="/ppt/slideLayouts/slideLayout16.xml" Id="R33b16cb27cc94058" /><Relationship Type="http://schemas.openxmlformats.org/officeDocument/2006/relationships/slideLayout" Target="/ppt/slideLayouts/slideLayout17.xml" Id="Rf679ab35113e49aa" /><Relationship Type="http://schemas.openxmlformats.org/officeDocument/2006/relationships/slideLayout" Target="/ppt/slideLayouts/slideLayout18.xml" Id="Ra74b1e3b06354307" /><Relationship Type="http://schemas.openxmlformats.org/officeDocument/2006/relationships/slideLayout" Target="/ppt/slideLayouts/slideLayout19.xml" Id="R4864749fb1c44767" /><Relationship Type="http://schemas.openxmlformats.org/officeDocument/2006/relationships/slideLayout" Target="/ppt/slideLayouts/slideLayout20.xml" Id="R6cbd824bcc5b4b07" /><Relationship Type="http://schemas.openxmlformats.org/officeDocument/2006/relationships/slideLayout" Target="/ppt/slideLayouts/slideLayout21.xml" Id="Raf22e64cff4843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57B9AF25-FDD6-4678-A164-9369F0E3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FAB4180D-FD3D-4C10-BB91-F9EC29D0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98A26BE-02DC-441A-890C-C00C6DA1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F5B3BCF-7D9A-4BDA-86BE-AC0A152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6AA4422F-C5FB-45B8-8D87-79BDCD8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347A96C-FACA-44DA-814C-FAC6D98A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3F5129A-7FA0-42D9-8071-90ABC6B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A741D1F-C08A-4307-930E-2C5254EF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CD53821B-DD34-40E7-AE97-7D75E5A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A7D71B3A-CABE-4085-9C21-A8C1A59B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FDFA9A1-E127-48A4-8EA6-34637136B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E202F1-3205-4EBA-B6AE-B7B21330A9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C1CE92-7B8D-4A34-B14B-B8D05775E7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1BEF0D-F0BB-DE4B-95CE-6DB70DBA9567}" type="datetimeFigureOut">
              <a:t>8/27/2026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9DD8E0-FB14-4AE9-9FB7-FE9582576F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9CDE72-C2C1-4C88-87B6-ABD5CA57345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D57F1E4F-1CFF-5643-939E-217C01CDF565}" type="slidenum">
              <a:t>‹#›</a:t>
            </a:fld>
            <a:endParaRPr/>
          </a:p>
        </p:txBody>
      </p:sp>
      <p:sp>
        <p:nvSpPr>
          <p:cNvPr id="1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96" y="63789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57BD5F78-1C10-49D6-8616-C9F20406C112}" type="datetime1">
              <a:rPr sz="1100">
                <a:solidFill>
                  <a:schemeClr val="accent2"/>
                </a:solidFill>
              </a:rPr>
              <a:t>8/27/2026</a:t>
            </a:fld>
            <a:endParaRPr sz="110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526" y="6378906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rPr sz="1100" b="1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338" y="63789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fld id="{2C18C1E5-FB55-42F5-BD6D-9CC153FCDBE6}" type="slidenum">
              <a:rPr sz="1100">
                <a:solidFill>
                  <a:schemeClr val="accent4"/>
                </a:solidFill>
              </a:rPr>
              <a:t>‹#›</a:t>
            </a:fld>
            <a:endParaRPr sz="110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0e9cc8a5d4acb"/>
    <p:sldLayoutId xmlns:r="http://schemas.openxmlformats.org/officeDocument/2006/relationships" id="2147483650" r:id="Rb5cfc3c4528d4fb1"/>
    <p:sldLayoutId xmlns:r="http://schemas.openxmlformats.org/officeDocument/2006/relationships" id="2147483651" r:id="R3136afcd33a3432c"/>
    <p:sldLayoutId xmlns:r="http://schemas.openxmlformats.org/officeDocument/2006/relationships" id="2147483652" r:id="R40bd29a5d12d4274"/>
    <p:sldLayoutId xmlns:r="http://schemas.openxmlformats.org/officeDocument/2006/relationships" id="2147483653" r:id="R09a93e98ea5a4bbe"/>
    <p:sldLayoutId xmlns:r="http://schemas.openxmlformats.org/officeDocument/2006/relationships" id="2147483654" r:id="R3dbc2844a5604e79"/>
    <p:sldLayoutId xmlns:r="http://schemas.openxmlformats.org/officeDocument/2006/relationships" id="2147483655" r:id="R88697ad62c2548ba"/>
    <p:sldLayoutId xmlns:r="http://schemas.openxmlformats.org/officeDocument/2006/relationships" id="2147483656" r:id="R5d95bc0a2a49471a"/>
    <p:sldLayoutId xmlns:r="http://schemas.openxmlformats.org/officeDocument/2006/relationships" id="2147483657" r:id="Ra35ecab842a74956"/>
    <p:sldLayoutId xmlns:r="http://schemas.openxmlformats.org/officeDocument/2006/relationships" id="2147483658" r:id="R84544228edb54229"/>
    <p:sldLayoutId xmlns:r="http://schemas.openxmlformats.org/officeDocument/2006/relationships" id="2147483659" r:id="R1da72a714fd94141"/>
    <p:sldLayoutId xmlns:r="http://schemas.openxmlformats.org/officeDocument/2006/relationships" id="2147483660" r:id="R1ba6861e72654d6e"/>
    <p:sldLayoutId xmlns:r="http://schemas.openxmlformats.org/officeDocument/2006/relationships" id="2147483661" r:id="Rd953bc2dd6b84f5e"/>
    <p:sldLayoutId xmlns:r="http://schemas.openxmlformats.org/officeDocument/2006/relationships" id="2147483662" r:id="R5c16fd91eee2463e"/>
    <p:sldLayoutId xmlns:r="http://schemas.openxmlformats.org/officeDocument/2006/relationships" id="2147483663" r:id="R3df96f0e3c944f61"/>
    <p:sldLayoutId xmlns:r="http://schemas.openxmlformats.org/officeDocument/2006/relationships" id="2147483664" r:id="R33b16cb27cc94058"/>
    <p:sldLayoutId xmlns:r="http://schemas.openxmlformats.org/officeDocument/2006/relationships" id="2147483665" r:id="Rf679ab35113e49aa"/>
    <p:sldLayoutId xmlns:r="http://schemas.openxmlformats.org/officeDocument/2006/relationships" id="2147483666" r:id="Ra74b1e3b06354307"/>
    <p:sldLayoutId xmlns:r="http://schemas.openxmlformats.org/officeDocument/2006/relationships" id="2147483667" r:id="R4864749fb1c44767"/>
    <p:sldLayoutId xmlns:r="http://schemas.openxmlformats.org/officeDocument/2006/relationships" id="2147483668" r:id="R6cbd824bcc5b4b07"/>
    <p:sldLayoutId xmlns:r="http://schemas.openxmlformats.org/officeDocument/2006/relationships" id="2147483669" r:id="Raf22e64cff4843e0"/>
  </p:sldLayoutIdLst>
  <p:hf hdr="0" ftr="0" dt="0"/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90832a0e7094950" /><Relationship Type="http://schemas.openxmlformats.org/officeDocument/2006/relationships/image" Target="/ppt/media/image.jpeg" Id="R416176ae702e436c" /><Relationship Type="http://schemas.openxmlformats.org/officeDocument/2006/relationships/notesSlide" Target="/ppt/notesSlides/notesSlide1.xml" Id="Ree35bd0f85fe43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2abd970e2d1c4d16" /><Relationship Type="http://schemas.openxmlformats.org/officeDocument/2006/relationships/image" Target="/ppt/media/image.png" Id="Rcb049062c8db4dba" /><Relationship Type="http://schemas.openxmlformats.org/officeDocument/2006/relationships/image" Target="/ppt/media/image.jpeg" Id="R77e6b708a0f141d4" /><Relationship Type="http://schemas.openxmlformats.org/officeDocument/2006/relationships/notesSlide" Target="/ppt/notesSlides/notesSlide2.xml" Id="Rdbd6f61f43a944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cadb6aee2fb0486b" /><Relationship Type="http://schemas.openxmlformats.org/officeDocument/2006/relationships/image" Target="/ppt/media/image2.png" Id="Rd7cedc9cfe9e4520" /><Relationship Type="http://schemas.openxmlformats.org/officeDocument/2006/relationships/notesSlide" Target="/ppt/notesSlides/notesSlide3.xml" Id="R4f8ca3a04d004c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2f880f920ad846bd" /><Relationship Type="http://schemas.openxmlformats.org/officeDocument/2006/relationships/image" Target="/ppt/media/image2.png" Id="R2492acc306fa482b" /><Relationship Type="http://schemas.openxmlformats.org/officeDocument/2006/relationships/notesSlide" Target="/ppt/notesSlides/notesSlide4.xml" Id="Rdd6afe08c22948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3331658a23041f7" /><Relationship Type="http://schemas.openxmlformats.org/officeDocument/2006/relationships/image" Target="/ppt/media/image3.png" Id="R193b54eb430447ff" /><Relationship Type="http://schemas.openxmlformats.org/officeDocument/2006/relationships/image" Target="/ppt/media/image4.png" Id="R2acf0bc319584a81" /><Relationship Type="http://schemas.openxmlformats.org/officeDocument/2006/relationships/notesSlide" Target="/ppt/notesSlides/notesSlide5.xml" Id="R28310cb46ac64e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46310dcfbaef425a" /><Relationship Type="http://schemas.openxmlformats.org/officeDocument/2006/relationships/image" Target="/ppt/media/image.jpeg" Id="R7fb94fd6febe4cb3" /><Relationship Type="http://schemas.openxmlformats.org/officeDocument/2006/relationships/hyperlink" Target="abc" TargetMode="External" Id="R2cca13c4e91e4381" /><Relationship Type="http://schemas.openxmlformats.org/officeDocument/2006/relationships/chart" Target="/ppt/slides/charts/chart1.xml" Id="Rab7927bd22684151" /><Relationship Type="http://schemas.openxmlformats.org/officeDocument/2006/relationships/chart" Target="/ppt/slides/charts/chart2.xml" Id="R8a79e396ecd04a6b" /><Relationship Type="http://schemas.openxmlformats.org/officeDocument/2006/relationships/notesSlide" Target="/ppt/notesSlides/notesSlide6.xml" Id="R55acfdb3be5440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8808b41528f041b4" /><Relationship Type="http://schemas.openxmlformats.org/officeDocument/2006/relationships/image" Target="/ppt/media/image.jpeg" Id="Rb3c769d185564fd5" /><Relationship Type="http://schemas.openxmlformats.org/officeDocument/2006/relationships/hyperlink" Target="abc" TargetMode="External" Id="R5fb8af267d884b22" /><Relationship Type="http://schemas.openxmlformats.org/officeDocument/2006/relationships/chart" Target="/ppt/slides/charts/chart3.xml" Id="R21e9096b748544ce" /><Relationship Type="http://schemas.openxmlformats.org/officeDocument/2006/relationships/chart" Target="/ppt/slides/charts/chart4.xml" Id="R9fc2e63b95734ac3" /><Relationship Type="http://schemas.openxmlformats.org/officeDocument/2006/relationships/notesSlide" Target="/ppt/notesSlides/notesSlide7.xml" Id="Rb98ac733c7e848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ba198730e9c44acd" /><Relationship Type="http://schemas.openxmlformats.org/officeDocument/2006/relationships/image" Target="/ppt/media/image.jpeg" Id="Ref151602a0d647d6" /><Relationship Type="http://schemas.openxmlformats.org/officeDocument/2006/relationships/notesSlide" Target="/ppt/notesSlides/notesSlide8.xml" Id="Rf8c11f87831d438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00000"/>
                </a:solidFill>
              </a:rPr>
              <a:t>Average price by fuel (₹ lakh)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00000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Average selling price</c:v>
          </c:tx>
          <c:spPr>
            <a:solidFill xmlns:a="http://schemas.openxmlformats.org/drawingml/2006/main">
              <a:srgbClr val="2E83C3"/>
            </a:solidFill>
          </c:spPr>
          <c:cat>
            <c:strLit>
              <c:ptCount val="3"/>
              <c:pt idx="0">
                <c:v>Diesel</c:v>
              </c:pt>
              <c:pt idx="1">
                <c:v>Petrol</c:v>
              </c:pt>
              <c:pt idx="2">
                <c:v>CNG</c:v>
              </c:pt>
            </c:strLit>
          </c:cat>
          <c:val>
            <c:numLit>
              <c:formatCode>0.00</c:formatCode>
              <c:ptCount val="3"/>
              <c:pt idx="0">
                <c:v>10.28</c:v>
              </c:pt>
              <c:pt idx="1">
                <c:v>3.26</c:v>
              </c:pt>
              <c:pt idx="2">
                <c:v>3.1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8EF"/>
              </a:solidFill>
              <a:prstDash val="solid"/>
            </a:ln>
          </c:spPr>
        </c:majorGridlines>
        <c:numFmt formatCode="0.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9D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C3C4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D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3C4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8E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00000"/>
                </a:solidFill>
              </a:rPr>
              <a:t>Average price by transmission (₹ lakh)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00000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Average selling price</c:v>
          </c:tx>
          <c:spPr>
            <a:solidFill xmlns:a="http://schemas.openxmlformats.org/drawingml/2006/main">
              <a:srgbClr val="42D0A2"/>
            </a:solidFill>
          </c:spPr>
          <c:cat>
            <c:strLit>
              <c:ptCount val="2"/>
              <c:pt idx="0">
                <c:v>Automatic</c:v>
              </c:pt>
              <c:pt idx="1">
                <c:v>Manual</c:v>
              </c:pt>
            </c:strLit>
          </c:cat>
          <c:val>
            <c:numLit>
              <c:formatCode>0.00</c:formatCode>
              <c:ptCount val="2"/>
              <c:pt idx="0">
                <c:v>9.42</c:v>
              </c:pt>
              <c:pt idx="1">
                <c:v>3.93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8EF"/>
              </a:solidFill>
              <a:prstDash val="solid"/>
            </a:ln>
          </c:spPr>
        </c:majorGridlines>
        <c:numFmt formatCode="0.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A9D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C3C4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D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3C4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8E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00000"/>
                </a:solidFill>
              </a:rPr>
              <a:t>Top model averages, min. 2 records (₹ lakh)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000000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Average selling price</c:v>
          </c:tx>
          <c:spPr>
            <a:solidFill xmlns:a="http://schemas.openxmlformats.org/drawingml/2006/main">
              <a:srgbClr val="2E83C3"/>
            </a:solidFill>
          </c:spPr>
          <c:cat>
            <c:strLit>
              <c:ptCount val="5"/>
              <c:pt idx="0">
                <c:v>Fortuner</c:v>
              </c:pt>
              <c:pt idx="1">
                <c:v>Innova</c:v>
              </c:pt>
              <c:pt idx="2">
                <c:v>Creta</c:v>
              </c:pt>
              <c:pt idx="3">
                <c:v>Elantra</c:v>
              </c:pt>
              <c:pt idx="4">
                <c:v>Ciaz</c:v>
              </c:pt>
            </c:strLit>
          </c:cat>
          <c:val>
            <c:numLit>
              <c:formatCode>0.00</c:formatCode>
              <c:ptCount val="5"/>
              <c:pt idx="0">
                <c:v>18.69</c:v>
              </c:pt>
              <c:pt idx="1">
                <c:v>12.78</c:v>
              </c:pt>
              <c:pt idx="2">
                <c:v>11.8</c:v>
              </c:pt>
              <c:pt idx="3">
                <c:v>11.6</c:v>
              </c:pt>
              <c:pt idx="4">
                <c:v>7.47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C3C4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D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3C4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8E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000000"/>
                </a:solidFill>
              </a:rPr>
              <a:t>Average value retention by age cohort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000000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Value retention</c:v>
          </c:tx>
          <c:spPr>
            <a:solidFill xmlns:a="http://schemas.openxmlformats.org/drawingml/2006/main">
              <a:srgbClr val="42D0A2"/>
            </a:solidFill>
          </c:spPr>
          <c:cat>
            <c:strLit>
              <c:ptCount val="4"/>
              <c:pt idx="0">
                <c:v>0–2 yrs</c:v>
              </c:pt>
              <c:pt idx="1">
                <c:v>3–5 yrs</c:v>
              </c:pt>
              <c:pt idx="2">
                <c:v>6–8 yrs</c:v>
              </c:pt>
              <c:pt idx="3">
                <c:v>9+ yrs</c:v>
              </c:pt>
            </c:strLit>
          </c:cat>
          <c:val>
            <c:numLit>
              <c:formatCode>0.0%</c:formatCode>
              <c:ptCount val="4"/>
              <c:pt idx="0">
                <c:v>0.8262</c:v>
              </c:pt>
              <c:pt idx="1">
                <c:v>0.6532</c:v>
              </c:pt>
              <c:pt idx="2">
                <c:v>0.4707</c:v>
              </c:pt>
              <c:pt idx="3">
                <c:v>0.2642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D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C3C4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8EF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A9D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C3C43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8E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312871" y="4141999"/>
            <a:ext cx="3400089" cy="861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0">
                <a:solidFill>
                  <a:schemeClr val="tx1"/>
                </a:solidFill>
              </a:rPr>
              <a:t>Rajesh Roy</a:t>
            </a:r>
            <a:endParaRPr b="0">
              <a:solidFill>
                <a:schemeClr val="tx1"/>
              </a:solidFill>
            </a:endParaR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12871" y="2050553"/>
            <a:ext cx="4998720" cy="74344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/>
              <a:t>CAR MARKET TRENDS</a:t>
            </a:r>
            <a:endParaRPr sz="3200"/>
          </a:p>
        </p:txBody>
      </p:sp>
      <p:sp>
        <p:nvSpPr>
          <p:cNvPr id="1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94001"/>
            <a:ext cx="3312160" cy="861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0" indent="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CarDekho Data Analysis</a:t>
            </a:r>
            <a:endParaRPr sz="2400"/>
          </a:p>
        </p:txBody>
      </p:sp>
      <p:pic>
        <p:nvPicPr>
          <p:cNvPr id="20" name="Picture 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6176ae702e436c"/>
          <a:srcRect xmlns:a="http://schemas.openxmlformats.org/drawingml/2006/main" l="0" t="96181" r="0" b="0"/>
          <a:stretch xmlns:a="http://schemas.openxmlformats.org/drawingml/2006/main"/>
        </p:blipFill>
        <p:spPr>
          <a:xfrm xmlns:a="http://schemas.openxmlformats.org/drawingml/2006/main">
            <a:off x="675957" y="6471920"/>
            <a:ext cx="2143125" cy="19304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871" y="3256384"/>
            <a:ext cx="31763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AICTE ID: —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046480" y="1875556"/>
            <a:ext cx="6431280" cy="36079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t>Used-vehicle prices vary widely across models and histories. This analysis asks:</a:t>
            </a:r>
            <a:endParaRPr sz="28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/>
            </a:r>
            <a:endParaRPr sz="28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• Which attributes are linked to higher selling prices?</a:t>
            </a:r>
            <a:endParaRPr sz="28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• How do fuel and transmission segments compare?</a:t>
            </a:r>
            <a:endParaRPr sz="280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t>• How quickly does value retention fall with age?</a:t>
            </a:r>
            <a:endParaRPr sz="28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4602" y="550417"/>
            <a:ext cx="6995604" cy="790111"/>
          </a:xfrm>
        </p:spPr>
        <p:txBody>
          <a:bodyPr xmlns:a="http://schemas.openxmlformats.org/drawingml/2006/main">
            <a:normAutofit fontScale="95509"/>
          </a:bodyPr>
          <a:lstStyle xmlns:a="http://schemas.openxmlformats.org/drawingml/2006/main"/>
          <a:p xmlns:a="http://schemas.openxmlformats.org/drawingml/2006/main">
            <a:r>
              <a:t>PROBLEM STATEMENT</a:t>
            </a:r>
            <a:endParaRPr/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49062c8db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5684" y="2930834"/>
            <a:ext cx="2760758" cy="3264409"/>
          </a:xfrm>
          <a:prstGeom xmlns:a="http://schemas.openxmlformats.org/drawingml/2006/main" prst="rect">
            <a:avLst/>
          </a:prstGeom>
        </p:spPr>
      </p:pic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e6b708a0f141d4"/>
          <a:srcRect xmlns:a="http://schemas.openxmlformats.org/drawingml/2006/main" l="0" t="96181" r="0" b="0"/>
          <a:stretch xmlns:a="http://schemas.openxmlformats.org/drawingml/2006/main"/>
        </p:blipFill>
        <p:spPr>
          <a:xfrm xmlns:a="http://schemas.openxmlformats.org/drawingml/2006/main">
            <a:off x="675957" y="6471920"/>
            <a:ext cx="2143125" cy="193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721359" y="1991360"/>
            <a:ext cx="7904481" cy="3990023"/>
          </a:xfrm>
        </p:spPr>
        <p:txBody>
          <a:bodyPr xmlns:a="http://schemas.openxmlformats.org/drawingml/2006/main">
            <a:normAutofit fontScale="60271"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DATASET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301 listings across 98 named models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Model years 2003–2018; no missing values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Nine fields covering price, kilometres, fuel, seller, transmission and ownership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/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METHOD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Validate data types and completeness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Build descriptive statistics and grouped comparisons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Calculate value retention and key correlations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Translate findings into buyer and seller decisions</a:t>
            </a:r>
            <a:endParaRPr sz="36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008" y="876617"/>
            <a:ext cx="10046070" cy="80264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/>
              <a:t>PROJECT APPROACH</a:t>
            </a:r>
            <a:endParaRPr sz="2000"/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edc9cfe9e4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359" y="6176804"/>
            <a:ext cx="2181225" cy="48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721359" y="1991360"/>
            <a:ext cx="7904481" cy="3990023"/>
          </a:xfrm>
        </p:spPr>
        <p:txBody>
          <a:bodyPr xmlns:a="http://schemas.openxmlformats.org/drawingml/2006/main">
            <a:normAutofit fontScale="88772"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BUYERS — benchmark asking prices and evaluate depreciation risk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/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DEALERS — compare inventory segments and prioritize valuable stock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/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SELLERS — set realistic expectations using age and usage signals</a:t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/>
            </a:r>
            <a:endParaRPr sz="3600"/>
          </a:p>
          <a:p xmlns:a="http://schemas.openxmlformats.org/drawingml/2006/main">
            <a:pPr algn="just">
              <a:lnSpc>
                <a:spcPct val="150000"/>
              </a:lnSpc>
              <a:buNone/>
            </a:pPr>
            <a:r>
              <a:t>• ANALYSTS &amp; STUDENTS — examine how vehicle attributes relate to value</a:t>
            </a:r>
            <a:endParaRPr sz="36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008" y="876617"/>
            <a:ext cx="10046070" cy="80264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200"/>
              <a:t>WHO USES THESE INSIGHTS?</a:t>
            </a:r>
            <a:endParaRPr sz="2000"/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2acc306fa48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359" y="6176804"/>
            <a:ext cx="2181225" cy="48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b54eb430447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359" y="6410461"/>
            <a:ext cx="3706253" cy="296092"/>
          </a:xfrm>
          <a:prstGeom xmlns:a="http://schemas.openxmlformats.org/drawingml/2006/main" prst="rect">
            <a:avLst/>
          </a:prstGeom>
        </p:spPr>
      </p:pic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f0bc319584a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0800" y="3820160"/>
            <a:ext cx="1727200" cy="3010024"/>
          </a:xfrm>
          <a:prstGeom xmlns:a="http://schemas.openxmlformats.org/drawingml/2006/main" prst="rect">
            <a:avLst/>
          </a:prstGeom>
        </p:spPr>
      </p:pic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905000" y="1428750"/>
            <a:ext cx="7429500" cy="4762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>DATA &amp; PREPARATION</a:t>
            </a:r>
            <a:endParaRPr/>
          </a:p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>• Python + pandas: load, validate and create features</a:t>
            </a:r>
            <a:endParaRPr/>
          </a:p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>• Retention = selling price ÷ present price</a:t>
            </a:r>
            <a:endParaRPr/>
          </a:p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/>
            </a:r>
            <a:endParaRPr/>
          </a:p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>ANALYSIS &amp; OUTPUT</a:t>
            </a:r>
            <a:endParaRPr/>
          </a:p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>• Averages and medians by fuel, transmission, seller and owner</a:t>
            </a:r>
            <a:endParaRPr/>
          </a:p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>• Correlations across price, year and kilometres</a:t>
            </a:r>
            <a:endParaRPr/>
          </a:p>
          <a:p xmlns:a="http://schemas.openxmlformats.org/drawingml/2006/main">
            <a:pPr lvl="1">
              <a:lnSpc>
                <a:spcPct val="150000"/>
              </a:lnSpc>
              <a:buNone/>
            </a:pPr>
            <a:r>
              <a:t>• Editable PowerPoint charts with sample-size notes</a:t>
            </a:r>
            <a:endParaRPr/>
          </a:p>
        </p:txBody>
      </p:sp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399" y="430567"/>
            <a:ext cx="5306291" cy="847817"/>
          </a:xfrm>
        </p:spPr>
        <p:txBody>
          <a:bodyPr xmlns:a="http://schemas.openxmlformats.org/drawingml/2006/main">
            <a:normAutofit fontScale="86499"/>
          </a:bodyPr>
          <a:lstStyle xmlns:a="http://schemas.openxmlformats.org/drawingml/2006/main"/>
          <a:p xmlns:a="http://schemas.openxmlformats.org/drawingml/2006/main">
            <a:r>
              <a:t>TOOLS &amp; METHODS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b94fd6febe4cb3"/>
          <a:srcRect xmlns:a="http://schemas.openxmlformats.org/drawingml/2006/main" l="0" t="96181" r="0" b="0"/>
          <a:stretch xmlns:a="http://schemas.openxmlformats.org/drawingml/2006/main"/>
        </p:blipFill>
        <p:spPr>
          <a:xfrm xmlns:a="http://schemas.openxmlformats.org/drawingml/2006/main">
            <a:off x="675957" y="6471920"/>
            <a:ext cx="2143125" cy="193040"/>
          </a:xfrm>
          <a:prstGeom xmlns:a="http://schemas.openxmlformats.org/drawingml/2006/main" prst="rect">
            <a:avLst/>
          </a:prstGeom>
        </p:spPr>
      </p:pic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957" y="370589"/>
            <a:ext cx="2981643" cy="830997"/>
          </a:xfrm>
        </p:spPr>
        <p:txBody>
          <a:bodyPr xmlns:a="http://schemas.openxmlformats.org/drawingml/2006/main">
            <a:normAutofit fontScale="89891"/>
          </a:bodyPr>
          <a:lstStyle xmlns:a="http://schemas.openxmlformats.org/drawingml/2006/main"/>
          <a:p xmlns:a="http://schemas.openxmlformats.org/drawingml/2006/main">
            <a:r>
              <a:t>PRICE MIX</a:t>
            </a:r>
            <a:endParaRPr/>
          </a:p>
        </p:txBody>
      </p:sp>
      <p:sp>
        <p:nvSpPr>
          <p:cNvPr id="7" name="Text Placeholder 30">
            <a:extLst xmlns:a="http://schemas.openxmlformats.org/drawingml/2006/main"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82" y="1275371"/>
            <a:ext cx="3343561" cy="6660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91789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₹4.66 lakh</a:t>
            </a:r>
            <a:endParaRPr sz="2000"/>
          </a:p>
          <a:p xmlns:a="http://schemas.openxmlformats.org/drawingml/2006/main">
            <a:r>
              <a:t>average selling price</a:t>
            </a:r>
            <a:endParaRPr sz="2000"/>
          </a:p>
        </p:txBody>
      </p:sp>
      <p:sp>
        <p:nvSpPr>
          <p:cNvPr id="8" name="Text Placeholder 30">
            <a:extLst xmlns:a="http://schemas.openxmlformats.org/drawingml/2006/main"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75398"/>
            <a:ext cx="2476500" cy="666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91790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₹3.60 lakh</a:t>
            </a:r>
            <a:endParaRPr sz="2000"/>
          </a:p>
          <a:p xmlns:a="http://schemas.openxmlformats.org/drawingml/2006/main">
            <a:r>
              <a:t>median selling price</a:t>
            </a:r>
            <a:endParaRPr sz="2000"/>
          </a:p>
        </p:txBody>
      </p:sp>
      <p:sp>
        <p:nvSpPr>
          <p:cNvPr id="9" name="Title 3">
            <a:extLst xmlns:a="http://schemas.openxmlformats.org/drawingml/2006/main"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59" y="5737443"/>
            <a:ext cx="2981643" cy="8309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r>
              <a:t> </a:t>
            </a:r>
            <a:r>
              <a:rPr sz="2000" b="0" u="sng">
                <a:solidFill>
                  <a:srgbClr val="0070C0"/>
                </a:solidFill>
                <a:hlinkClick xmlns:r="http://schemas.openxmlformats.org/officeDocument/2006/relationships" r:id="R2cca13c4e91e4381"/>
              </a:rPr>
              <a:t>Data: provided CSV</a:t>
            </a:r>
            <a:endParaRPr b="0" u="sng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23875" y="1952625"/>
            <a:ext cx="8001000" cy="361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Diesel and automatic listings show higher average prices.</a:t>
            </a:r>
            <a:endParaRPr/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23875" y="2428875"/>
          <a:ext xmlns:a="http://schemas.openxmlformats.org/drawingml/2006/main" cx="371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7927bd22684151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572000" y="2428875"/>
          <a:ext xmlns:a="http://schemas.openxmlformats.org/drawingml/2006/main" cx="371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79e396ecd04a6b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c769d185564fd5"/>
          <a:srcRect xmlns:a="http://schemas.openxmlformats.org/drawingml/2006/main" l="0" t="96181" r="0" b="0"/>
          <a:stretch xmlns:a="http://schemas.openxmlformats.org/drawingml/2006/main"/>
        </p:blipFill>
        <p:spPr>
          <a:xfrm xmlns:a="http://schemas.openxmlformats.org/drawingml/2006/main">
            <a:off x="675957" y="6471920"/>
            <a:ext cx="2143125" cy="193040"/>
          </a:xfrm>
          <a:prstGeom xmlns:a="http://schemas.openxmlformats.org/drawingml/2006/main" prst="rect">
            <a:avLst/>
          </a:prstGeom>
        </p:spPr>
      </p:pic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957" y="370589"/>
            <a:ext cx="2981643" cy="830997"/>
          </a:xfrm>
        </p:spPr>
        <p:txBody>
          <a:bodyPr xmlns:a="http://schemas.openxmlformats.org/drawingml/2006/main">
            <a:normAutofit fontScale="67285"/>
          </a:bodyPr>
          <a:lstStyle xmlns:a="http://schemas.openxmlformats.org/drawingml/2006/main"/>
          <a:p xmlns:a="http://schemas.openxmlformats.org/drawingml/2006/main">
            <a:r>
              <a:t>AGE &amp; VALUE</a:t>
            </a:r>
            <a:endParaRPr/>
          </a:p>
        </p:txBody>
      </p:sp>
      <p:sp>
        <p:nvSpPr>
          <p:cNvPr id="7" name="Text Placeholder 30">
            <a:extLst xmlns:a="http://schemas.openxmlformats.org/drawingml/2006/main"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82" y="1275371"/>
            <a:ext cx="3343561" cy="6660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91789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65.5%</a:t>
            </a:r>
            <a:endParaRPr sz="2000"/>
          </a:p>
          <a:p xmlns:a="http://schemas.openxmlformats.org/drawingml/2006/main">
            <a:r>
              <a:t>median value retention</a:t>
            </a:r>
            <a:endParaRPr sz="2000"/>
          </a:p>
        </p:txBody>
      </p:sp>
      <p:sp>
        <p:nvSpPr>
          <p:cNvPr id="8" name="Text Placeholder 30">
            <a:extLst xmlns:a="http://schemas.openxmlformats.org/drawingml/2006/main"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75398"/>
            <a:ext cx="2476500" cy="6660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91790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0.879</a:t>
            </a:r>
            <a:endParaRPr sz="2000"/>
          </a:p>
          <a:p xmlns:a="http://schemas.openxmlformats.org/drawingml/2006/main">
            <a:r>
              <a:t>present-price correlation</a:t>
            </a:r>
            <a:endParaRPr sz="2000"/>
          </a:p>
        </p:txBody>
      </p:sp>
      <p:sp>
        <p:nvSpPr>
          <p:cNvPr id="9" name="Title 3">
            <a:extLst xmlns:a="http://schemas.openxmlformats.org/drawingml/2006/main"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59" y="5737443"/>
            <a:ext cx="2981643" cy="8309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r>
              <a:t> </a:t>
            </a:r>
            <a:r>
              <a:rPr sz="2000" b="0" u="sng">
                <a:solidFill>
                  <a:srgbClr val="0070C0"/>
                </a:solidFill>
                <a:hlinkClick xmlns:r="http://schemas.openxmlformats.org/officeDocument/2006/relationships" r:id="R5fb8af267d884b22"/>
              </a:rPr>
              <a:t>Data: provided CSV</a:t>
            </a:r>
            <a:endParaRPr b="0" u="sng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23875" y="1952625"/>
            <a:ext cx="8001000" cy="361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Retention drops from 82.6% (0–2 yrs) to 26.4% (9+ yrs).</a:t>
            </a:r>
            <a:endParaRPr/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23875" y="2428875"/>
          <a:ext xmlns:a="http://schemas.openxmlformats.org/drawingml/2006/main" cx="371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e9096b748544ce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572000" y="2428875"/>
          <a:ext xmlns:a="http://schemas.openxmlformats.org/drawingml/2006/main" cx="37147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c2e63b95734ac3"/>
          </a:graphicData>
        </a:graphic>
      </p:graphicFrame>
    </p:spTree>
    <p:extLst>
      <p:ext uri="{BB962C8B-B14F-4D97-AF65-F5344CB8AC3E}">
        <p14:creationId xmlns:p14="http://schemas.microsoft.com/office/powerpoint/2010/main" val="38496278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83207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chemeClr val="tx1"/>
                </a:solidFill>
              </a:rPr>
              <a:t>KEY TAKEAWAYS</a:t>
            </a:r>
          </a:p>
        </p:txBody>
      </p:sp>
      <p:sp>
        <p:nvSpPr>
          <p:cNvPr id="31" name="Text Placeholder 30">
            <a:extLst xmlns:a="http://schemas.openxmlformats.org/drawingml/2006/main"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62000" y="3714750"/>
            <a:ext cx="2381250" cy="1238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Use the ₹3.60 lakh median as a steadier centre than the ₹4.66 lakh mean.</a:t>
            </a:r>
          </a:p>
        </p:txBody>
      </p:sp>
      <p:sp>
        <p:nvSpPr>
          <p:cNvPr id="17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810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 lnSpcReduction="10000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Three decisions stand out from the analysis</a:t>
            </a:r>
            <a:endParaRPr sz="2400"/>
          </a:p>
        </p:txBody>
      </p:sp>
      <p:sp>
        <p:nvSpPr>
          <p:cNvPr id="20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PRIORITIZE AGE</a:t>
            </a:r>
            <a:endParaRPr sz="2200"/>
          </a:p>
        </p:txBody>
      </p:sp>
      <p:sp>
        <p:nvSpPr>
          <p:cNvPr id="23" name="Text Placeholder 28">
            <a:extLst xmlns:a="http://schemas.openxmlformats.org/drawingml/2006/main"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79217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2000" b="1" kern="1200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PRICE WITH CONTEXT</a:t>
            </a:r>
            <a:endParaRPr sz="2200"/>
          </a:p>
        </p:txBody>
      </p:sp>
      <p:sp>
        <p:nvSpPr>
          <p:cNvPr id="30" name="Text Placeholder 30">
            <a:extLst xmlns:a="http://schemas.openxmlformats.org/drawingml/2006/main"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381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0–2 year vehicles retain 82.6% of present value on average.</a:t>
            </a:r>
            <a:endParaRPr/>
          </a:p>
        </p:txBody>
      </p:sp>
      <p:sp>
        <p:nvSpPr>
          <p:cNvPr id="32" name="Text Placeholder 30">
            <a:extLst xmlns:a="http://schemas.openxmlformats.org/drawingml/2006/main"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381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0" indent="0" algn="ctr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45720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Fuel, transmission and model mix change averages—compare like with like.</a:t>
            </a:r>
          </a:p>
        </p:txBody>
      </p:sp>
      <p:pic>
        <p:nvPicPr>
          <p:cNvPr id="41" name="Picture 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151602a0d647d6"/>
          <a:srcRect xmlns:a="http://schemas.openxmlformats.org/drawingml/2006/main" l="0" t="96181" r="0" b="0"/>
          <a:stretch xmlns:a="http://schemas.openxmlformats.org/drawingml/2006/main"/>
        </p:blipFill>
        <p:spPr>
          <a:xfrm xmlns:a="http://schemas.openxmlformats.org/drawingml/2006/main">
            <a:off x="675957" y="6471920"/>
            <a:ext cx="2143125" cy="193040"/>
          </a:xfrm>
          <a:prstGeom xmlns:a="http://schemas.openxmlformats.org/drawingml/2006/main" prst="rect">
            <a:avLst/>
          </a:prstGeom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762000" y="3143250"/>
            <a:ext cx="2381250" cy="457200"/>
          </a:xfrm>
        </p:spPr>
        <p:txBody>
          <a:bodyPr xmlns:a="http://schemas.openxmlformats.org/drawingml/2006/main">
            <a:normAutofit fontScale="100000" lnSpcReduction="20000"/>
          </a:bodyPr>
          <a:lstStyle xmlns:a="http://schemas.openxmlformats.org/drawingml/2006/main"/>
          <a:p xmlns:a="http://schemas.openxmlformats.org/drawingml/2006/main">
            <a:r>
              <a:t>BENCHMARK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2026-08-30T07:21:59.8000000Z</dcterms:created>
  <dcterms:modified xsi:type="dcterms:W3CDTF">2026-08-30T07:21:59.8000000Z</dcterms:modified>
</coreProperties>
</file>