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Opening: introduce the dataset and the goal of explaining used-vehicle price patterns.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94" name="Google Shape;19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Frame the work as descriptive market analysis rather than a causal pricing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4" name="Google Shape;20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Value retention is defined as selling price divided by present price.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13" name="Google Shape;21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how the same descriptive findings support different market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21" name="Google Shape;22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analysis uses descriptive statistics; no predictive-model accuracy is claimed.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Means are descriptive and affected by the models represented in each segment. Fuel sample sizes: Diesel 60, Petrol 239, CNG 2. Transmission sample sizes: Automatic 40, Manual 261.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38" name="Google Shape;23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Age cohorts are calculated relative to the dataset's latest model year (2018). Cohort sizes: 0–2 years 86, 3–5 years 132, 6–8 years 57, 9+ years 26. Top model averages require at least two records.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2" name="Google Shape;25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Close by emphasizing robust benchmarks, age-related depreciation and the need for like-for-like comparisons.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- 1776311302-P3-Car Market Trends Analysis with Car Dekho Data.csv (user-provided dataset; 301 rows)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0" name="Google Shape;30;p2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4" name="Google Shape;34;p2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2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8" name="Google Shape;38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1" name="Google Shape;41;p3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3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47" name="Google Shape;47;p4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5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0" y="-7862"/>
            <a:ext cx="863600" cy="5698067"/>
          </a:xfrm>
          <a:custGeom>
            <a:rect b="b" l="l" r="r" t="t"/>
            <a:pathLst>
              <a:path extrusionOk="0" h="5698067" w="863600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196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cxnSp>
        <p:nvCxnSpPr>
          <p:cNvPr id="72" name="Google Shape;72;p6"/>
          <p:cNvCxnSpPr/>
          <p:nvPr/>
        </p:nvCxnSpPr>
        <p:spPr>
          <a:xfrm>
            <a:off x="9371012" y="0"/>
            <a:ext cx="1219200" cy="685800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6"/>
          <p:cNvCxnSpPr/>
          <p:nvPr/>
        </p:nvCxnSpPr>
        <p:spPr>
          <a:xfrm flipH="1">
            <a:off x="7425267" y="3681413"/>
            <a:ext cx="4763558" cy="3176587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/>
          <p:nvPr/>
        </p:nvSpPr>
        <p:spPr>
          <a:xfrm>
            <a:off x="9181476" y="-8467"/>
            <a:ext cx="3007349" cy="6866467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75" name="Google Shape;75;p6"/>
          <p:cNvSpPr/>
          <p:nvPr/>
        </p:nvSpPr>
        <p:spPr>
          <a:xfrm>
            <a:off x="9603442" y="-8467"/>
            <a:ext cx="2588558" cy="6866467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76" name="Google Shape;76;p6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fmla="val 100000" name="adj"/>
            </a:avLst>
          </a:prstGeom>
          <a:solidFill>
            <a:srgbClr val="16B0E3">
              <a:alpha val="65882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9334500" y="-8467"/>
            <a:ext cx="2854326" cy="6866467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16B0E3">
              <a:alpha val="50196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78" name="Google Shape;78;p6"/>
          <p:cNvSpPr/>
          <p:nvPr/>
        </p:nvSpPr>
        <p:spPr>
          <a:xfrm>
            <a:off x="10898730" y="-8467"/>
            <a:ext cx="1290094" cy="6866467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196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79" name="Google Shape;79;p6"/>
          <p:cNvSpPr/>
          <p:nvPr/>
        </p:nvSpPr>
        <p:spPr>
          <a:xfrm>
            <a:off x="10938999" y="-8467"/>
            <a:ext cx="1249825" cy="6866467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80" name="Google Shape;80;p6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fmla="val 100000" name="adj"/>
            </a:avLst>
          </a:prstGeom>
          <a:solidFill>
            <a:srgbClr val="16B0E3">
              <a:alpha val="65882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6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7" name="Google Shape;127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4" name="Google Shape;134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DFF5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DFF5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5" name="Google Shape;155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2" name="Google Shape;162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DFF5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DFF5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0" name="Google Shape;170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3" name="Google Shape;183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2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9371012" y="0"/>
            <a:ext cx="1219200" cy="6858000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"/>
          <p:cNvCxnSpPr/>
          <p:nvPr/>
        </p:nvCxnSpPr>
        <p:spPr>
          <a:xfrm flipH="1">
            <a:off x="7425267" y="3681413"/>
            <a:ext cx="4763558" cy="3176587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70196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"/>
          <p:cNvSpPr/>
          <p:nvPr/>
        </p:nvSpPr>
        <p:spPr>
          <a:xfrm>
            <a:off x="9181476" y="-8467"/>
            <a:ext cx="3007349" cy="6866467"/>
          </a:xfrm>
          <a:custGeom>
            <a:rect b="b" l="l" r="r" t="t"/>
            <a:pathLst>
              <a:path extrusionOk="0" h="6866467" w="3007349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13" name="Google Shape;13;p1"/>
          <p:cNvSpPr/>
          <p:nvPr/>
        </p:nvSpPr>
        <p:spPr>
          <a:xfrm>
            <a:off x="9603442" y="-8467"/>
            <a:ext cx="2588558" cy="6866467"/>
          </a:xfrm>
          <a:custGeom>
            <a:rect b="b" l="l" r="r" t="t"/>
            <a:pathLst>
              <a:path extrusionOk="0" h="6866467" w="2573311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14" name="Google Shape;14;p1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fmla="val 100000" name="adj"/>
            </a:avLst>
          </a:prstGeom>
          <a:solidFill>
            <a:srgbClr val="16B0E3">
              <a:alpha val="65882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9334500" y="-8467"/>
            <a:ext cx="2854326" cy="6866467"/>
          </a:xfrm>
          <a:custGeom>
            <a:rect b="b" l="l" r="r" t="t"/>
            <a:pathLst>
              <a:path extrusionOk="0" h="6866467" w="2858013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16B0E3">
              <a:alpha val="50196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16" name="Google Shape;16;p1"/>
          <p:cNvSpPr/>
          <p:nvPr/>
        </p:nvSpPr>
        <p:spPr>
          <a:xfrm>
            <a:off x="10898730" y="-8467"/>
            <a:ext cx="1290094" cy="6866467"/>
          </a:xfrm>
          <a:custGeom>
            <a:rect b="b" l="l" r="r" t="t"/>
            <a:pathLst>
              <a:path extrusionOk="0" h="6858000" w="1290094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196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17" name="Google Shape;17;p1"/>
          <p:cNvSpPr/>
          <p:nvPr/>
        </p:nvSpPr>
        <p:spPr>
          <a:xfrm>
            <a:off x="10938999" y="-8467"/>
            <a:ext cx="1249825" cy="6866467"/>
          </a:xfrm>
          <a:custGeom>
            <a:rect b="b" l="l" r="r" t="t"/>
            <a:pathLst>
              <a:path extrusionOk="0" h="6858000" w="1249825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</p:sp>
      <p:sp>
        <p:nvSpPr>
          <p:cNvPr id="18" name="Google Shape;18;p1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fmla="val 100000" name="adj"/>
            </a:avLst>
          </a:prstGeom>
          <a:solidFill>
            <a:srgbClr val="16B0E3">
              <a:alpha val="65882"/>
            </a:srgb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4013200"/>
            <a:ext cx="448733" cy="2844800"/>
          </a:xfrm>
          <a:prstGeom prst="triangle">
            <a:avLst>
              <a:gd fmla="val 0" name="adj"/>
            </a:avLst>
          </a:prstGeom>
          <a:solidFill>
            <a:schemeClr val="accent1">
              <a:alpha val="70196"/>
            </a:schemeClr>
          </a:solidFill>
          <a:ln>
            <a:noFill/>
          </a:ln>
          <a:effectLst>
            <a:outerShdw blurRad="38100" rotWithShape="0" dir="5400000" dist="254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1pPr>
            <a:lvl2pPr indent="0" lvl="1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2pPr>
            <a:lvl3pPr indent="0" lvl="2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3pPr>
            <a:lvl4pPr indent="0" lvl="3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4pPr>
            <a:lvl5pPr indent="0" lvl="4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5pPr>
            <a:lvl6pPr indent="0" lvl="5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6pPr>
            <a:lvl7pPr indent="0" lvl="6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7pPr>
            <a:lvl8pPr indent="0" lvl="7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8pPr>
            <a:lvl9pPr indent="0" lvl="8" marL="0" marR="0" rtl="0" algn="r">
              <a:spcBef>
                <a:spcPts val="0"/>
              </a:spcBef>
              <a:buClr>
                <a:schemeClr val="accent1"/>
              </a:buClr>
              <a:buSzPts val="900"/>
              <a:buFont typeface="Arial"/>
              <a:buNone/>
              <a:defRPr sz="9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Trebuchet MS"/>
              <a:buNone/>
            </a:pPr>
            <a:r>
              <a:rPr lang="en-US" sz="11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8/27/2026</a:t>
            </a:r>
            <a:endParaRPr sz="11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Trebuchet MS"/>
              <a:buNone/>
            </a:pPr>
            <a:fld id="{00000000-1234-1234-1234-123412341234}" type="slidenum">
              <a:rPr lang="en-US" sz="11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1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hyperlink" Target="https://github.com/jaycss9/car-market-trends-analysis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hyperlink" Target="https://colab.research.google.com/github/jaycss9/car-market-trends-analysis/blob/main/CAR_MARKET_TRENDS.ipyn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hyperlink" Target="https://github.com/jaycss9/car-market-trends-analysis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hyperlink" Target="https://colab.research.google.com/github/jaycss9/car-market-trends-analysis/blob/main/CAR_MARKET_TRENDS.ipynb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6312871" y="4141999"/>
            <a:ext cx="3400089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lang="en-US" sz="2900">
                <a:solidFill>
                  <a:schemeClr val="dk1"/>
                </a:solidFill>
              </a:rPr>
              <a:t>Rajesh Roy</a:t>
            </a:r>
            <a:endParaRPr b="0" sz="2900">
              <a:solidFill>
                <a:schemeClr val="dk1"/>
              </a:solidFill>
            </a:endParaRPr>
          </a:p>
        </p:txBody>
      </p:sp>
      <p:sp>
        <p:nvSpPr>
          <p:cNvPr id="197" name="Google Shape;197;p23"/>
          <p:cNvSpPr txBox="1"/>
          <p:nvPr>
            <p:ph type="title"/>
          </p:nvPr>
        </p:nvSpPr>
        <p:spPr>
          <a:xfrm>
            <a:off x="5376925" y="1996650"/>
            <a:ext cx="5060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CAR MARKET TRENDS</a:t>
            </a:r>
            <a:endParaRPr sz="3200"/>
          </a:p>
        </p:txBody>
      </p:sp>
      <p:sp>
        <p:nvSpPr>
          <p:cNvPr id="198" name="Google Shape;198;p23"/>
          <p:cNvSpPr/>
          <p:nvPr/>
        </p:nvSpPr>
        <p:spPr>
          <a:xfrm>
            <a:off x="5443925" y="2740051"/>
            <a:ext cx="33123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en-US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CarDekho Data Analysis</a:t>
            </a:r>
            <a:endParaRPr b="1" sz="24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>
            <a:off x="5443925" y="3256375"/>
            <a:ext cx="556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AICTE ID: - </a:t>
            </a:r>
            <a:r>
              <a:rPr b="1" lang="en-US" sz="2050">
                <a:solidFill>
                  <a:srgbClr val="333333"/>
                </a:solidFill>
                <a:highlight>
                  <a:srgbClr val="FFFFFF"/>
                </a:highlight>
              </a:rPr>
              <a:t>STU6a66457af37dd1785087354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046480" y="1875556"/>
            <a:ext cx="64314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Used-vehicle prices vary widely across models and histories. This analysis asks:</a:t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Which attributes are linked to higher selling prices?</a:t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How do fuel and transmission segments compare?</a:t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How quickly does value retention fall with age?</a:t>
            </a:r>
            <a:endParaRPr sz="2800"/>
          </a:p>
        </p:txBody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754602" y="550417"/>
            <a:ext cx="6995604" cy="790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5509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PROBLEM STATEMENT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84" y="2930834"/>
            <a:ext cx="2760758" cy="326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721359" y="1991360"/>
            <a:ext cx="7904481" cy="3990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0271"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DATASET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301 listings across 98 named models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Model years 2003–2018; no missing values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Nine fields covering price, kilometres, fuel, seller, transmission and ownership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METHOD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Validate data types and completeness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Build descriptive statistics and grouped comparisons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Calculate value retention and key correlations</a:t>
            </a:r>
            <a:endParaRPr sz="3600"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 sz="2000"/>
              <a:t>• Translate findings into buyer and seller decisions</a:t>
            </a:r>
            <a:endParaRPr sz="3600"/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PROJECT APPROACH</a:t>
            </a:r>
            <a:endParaRPr sz="2000"/>
          </a:p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721350" y="1991350"/>
            <a:ext cx="7904400" cy="3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"/>
              <a:buNone/>
            </a:pPr>
            <a:r>
              <a:rPr lang="en-US" sz="1650"/>
              <a:t>• BUYERS - benchmark asking prices and evaluate depreciation risk</a:t>
            </a:r>
            <a:endParaRPr sz="3130"/>
          </a:p>
          <a:p>
            <a:pPr indent="-342900" lvl="0" marL="3429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64"/>
              <a:buNone/>
            </a:pPr>
            <a:r>
              <a:t/>
            </a:r>
            <a:endParaRPr sz="3130"/>
          </a:p>
          <a:p>
            <a:pPr indent="-342900" lvl="0" marL="3429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80"/>
              <a:buNone/>
            </a:pPr>
            <a:r>
              <a:rPr lang="en-US" sz="1650"/>
              <a:t>• DEALERS - compare inventory segments and prioritize valuable stock</a:t>
            </a:r>
            <a:endParaRPr sz="3130"/>
          </a:p>
          <a:p>
            <a:pPr indent="-342900" lvl="0" marL="3429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64"/>
              <a:buNone/>
            </a:pPr>
            <a:r>
              <a:t/>
            </a:r>
            <a:endParaRPr sz="3130"/>
          </a:p>
          <a:p>
            <a:pPr indent="-342900" lvl="0" marL="3429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80"/>
              <a:buNone/>
            </a:pPr>
            <a:r>
              <a:rPr lang="en-US" sz="1650"/>
              <a:t>• SELLERS - set realistic expectations using age and usage signals</a:t>
            </a:r>
            <a:endParaRPr sz="3130"/>
          </a:p>
          <a:p>
            <a:pPr indent="-342900" lvl="0" marL="3429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64"/>
              <a:buNone/>
            </a:pPr>
            <a:r>
              <a:t/>
            </a:r>
            <a:endParaRPr sz="3130"/>
          </a:p>
          <a:p>
            <a:pPr indent="-342900" lvl="0" marL="3429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80"/>
              <a:buNone/>
            </a:pPr>
            <a:r>
              <a:rPr lang="en-US" sz="1650"/>
              <a:t>• ANALYSTS &amp; STUD</a:t>
            </a:r>
            <a:r>
              <a:rPr lang="en-US" sz="1650"/>
              <a:t>E</a:t>
            </a:r>
            <a:r>
              <a:rPr lang="en-US" sz="1650"/>
              <a:t>NTS - examine how vehicle attributes relate to value</a:t>
            </a:r>
            <a:endParaRPr sz="3130"/>
          </a:p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WHO USES THESE INSIGHTS?</a:t>
            </a:r>
            <a:endParaRPr sz="2000"/>
          </a:p>
        </p:txBody>
      </p:sp>
      <p:pic>
        <p:nvPicPr>
          <p:cNvPr id="225" name="Google Shape;2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1905000" y="1428750"/>
            <a:ext cx="74295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DATA &amp; PREPARATION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Python + pandas: load, validate and create features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Retention = selling price ÷ present price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ANALYSIS &amp; OUTPUT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Averages and medians by fuel, transmission, seller and owner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Correlations across price, year and kilometres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• Editable PowerPoint charts with sample-size notes</a:t>
            </a:r>
            <a:endParaRPr/>
          </a:p>
        </p:txBody>
      </p:sp>
      <p:sp>
        <p:nvSpPr>
          <p:cNvPr id="234" name="Google Shape;234;p27"/>
          <p:cNvSpPr txBox="1"/>
          <p:nvPr>
            <p:ph type="title"/>
          </p:nvPr>
        </p:nvSpPr>
        <p:spPr>
          <a:xfrm>
            <a:off x="660399" y="430567"/>
            <a:ext cx="5306291" cy="847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6499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TOOLS &amp; METHODS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>
            <p:ph type="title"/>
          </p:nvPr>
        </p:nvSpPr>
        <p:spPr>
          <a:xfrm>
            <a:off x="675957" y="370589"/>
            <a:ext cx="29816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9891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PRICE MIX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₹4.66 lakh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average selling price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4191000" y="1275398"/>
            <a:ext cx="2476500" cy="666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₹3.60 lakh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median selling price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422959" y="5737443"/>
            <a:ext cx="29816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GITHUB</a:t>
            </a:r>
            <a:endParaRPr b="0" sz="4800" u="sng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28"/>
          <p:cNvSpPr txBox="1"/>
          <p:nvPr>
            <p:ph idx="1" type="body"/>
          </p:nvPr>
        </p:nvSpPr>
        <p:spPr>
          <a:xfrm>
            <a:off x="523875" y="1952625"/>
            <a:ext cx="800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Diesel and automatic listings show higher average prices.</a:t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2428875"/>
            <a:ext cx="37147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428875"/>
            <a:ext cx="3714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8"/>
          <p:cNvSpPr/>
          <p:nvPr/>
        </p:nvSpPr>
        <p:spPr>
          <a:xfrm>
            <a:off x="422934" y="5463643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7"/>
              </a:rPr>
              <a:t>COLAB</a:t>
            </a:r>
            <a:endParaRPr b="0" sz="4800" u="sng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>
            <p:ph type="title"/>
          </p:nvPr>
        </p:nvSpPr>
        <p:spPr>
          <a:xfrm>
            <a:off x="675957" y="370589"/>
            <a:ext cx="29816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7285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AGE &amp; VALUE</a:t>
            </a:r>
            <a:endParaRPr/>
          </a:p>
        </p:txBody>
      </p:sp>
      <p:sp>
        <p:nvSpPr>
          <p:cNvPr id="256" name="Google Shape;256;p29"/>
          <p:cNvSpPr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65.5%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median value retention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4191000" y="1275398"/>
            <a:ext cx="2476500" cy="666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0.879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74"/>
              <a:buFont typeface="Noto Sans Symbols"/>
              <a:buNone/>
            </a:pPr>
            <a:r>
              <a:rPr lang="en-US" sz="1469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present-price correlation</a:t>
            </a:r>
            <a:endParaRPr sz="1836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501909" y="5773793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GITHUB</a:t>
            </a:r>
            <a:endParaRPr b="0" sz="4800" u="sng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23875" y="1952625"/>
            <a:ext cx="8001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Retention drops from 82.6% (0–2 yrs) to 26.4% (9+ yrs).</a:t>
            </a:r>
            <a:endParaRPr/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2428875"/>
            <a:ext cx="37147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428875"/>
            <a:ext cx="3714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/>
          <p:nvPr/>
        </p:nvSpPr>
        <p:spPr>
          <a:xfrm>
            <a:off x="501909" y="5463643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7"/>
              </a:rPr>
              <a:t>COLAB</a:t>
            </a:r>
            <a:endParaRPr b="0" sz="4800" u="sng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3207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KEY TAKEAWAYS</a:t>
            </a:r>
            <a:endParaRPr/>
          </a:p>
        </p:txBody>
      </p:sp>
      <p:sp>
        <p:nvSpPr>
          <p:cNvPr id="269" name="Google Shape;269;p30"/>
          <p:cNvSpPr txBox="1"/>
          <p:nvPr>
            <p:ph idx="8" type="body"/>
          </p:nvPr>
        </p:nvSpPr>
        <p:spPr>
          <a:xfrm>
            <a:off x="762000" y="3714750"/>
            <a:ext cx="2381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 the ₹3.60 lakh median as a steadier centre than the ₹4.66 lakh mean.</a:t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>
            <a:off x="762000" y="1952625"/>
            <a:ext cx="781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en-US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Three decisions stand out from the analysis</a:t>
            </a:r>
            <a:endParaRPr b="1" sz="24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3524250" y="3143250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lang="en-US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PRIORITIZE AGE</a:t>
            </a:r>
            <a:endParaRPr b="1" sz="22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6286500" y="3143250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67"/>
              <a:buFont typeface="Noto Sans Symbols"/>
              <a:buNone/>
            </a:pPr>
            <a:r>
              <a:rPr b="1" lang="en-US" sz="1584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PRICE WITH CONTEXT</a:t>
            </a:r>
            <a:endParaRPr b="1" sz="1743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3524250" y="3714750"/>
            <a:ext cx="2381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0–2 year vehicles retain 82.6% of present value on average.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6286500" y="3714750"/>
            <a:ext cx="2381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Fuel, transmission and model mix change averages - compare like with like.</a:t>
            </a:r>
            <a:endParaRPr/>
          </a:p>
        </p:txBody>
      </p:sp>
      <p:pic>
        <p:nvPicPr>
          <p:cNvPr id="275" name="Google Shape;275;p3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0"/>
          <p:cNvSpPr txBox="1"/>
          <p:nvPr>
            <p:ph idx="7" type="body"/>
          </p:nvPr>
        </p:nvSpPr>
        <p:spPr>
          <a:xfrm>
            <a:off x="762000" y="3143250"/>
            <a:ext cx="238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BENCHMARK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